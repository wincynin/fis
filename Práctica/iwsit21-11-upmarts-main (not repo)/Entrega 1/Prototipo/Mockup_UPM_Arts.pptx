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3C048-12C7-654D-388B-FC8EB0540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B65967-FE11-4BB6-1F4D-486E3BCEE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0A04C4-738E-91D0-77A4-14F9ED3E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81288E-FD39-C663-4587-2DB77B18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B7C97A-D7BC-FAEB-C708-929EC27B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8905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CC957-1046-816E-6FD0-07F0FC38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4DEB52-35F0-F6AA-2AEF-0AB9CE088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01403-5336-EEBC-BF0D-086A710E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790646-6A27-0EAE-73A8-3459ED093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F7BBF9-5B44-0AC9-6593-B9911B9C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101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1C83D-D416-86C3-3A3C-2B813A73E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ABFD92-8436-7649-D635-43D4DD9E0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43FDB2-D7FC-07E6-A9A1-CA35888D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8EA18E-4556-D39E-E919-610C39E2A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6E302-B43E-ED3A-9217-92A2BFAD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4476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A7F03-45F8-3DA2-EC21-79C1354B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1B2554-B61B-968F-0A58-E6CD49AA2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D3FE5C-3A6B-DB1D-C65F-D6E6244CD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977E48-1E69-B2B9-75DA-52E79D4D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37E3AD-70F9-3AF5-AF97-63B07CC1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4B38AF-BC3C-CCF8-ED32-63645833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036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E5B8-589A-AA99-95CC-56414655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56D754-9751-8751-C7D5-AB3F46BBC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B37850-09F3-605C-E5D1-2ECF80439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805760-B860-69BA-FF80-1AD7DE3FC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79F125-358A-B0ED-3C3F-A622C2518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7A3E47-64E1-1679-E29D-8A9832B26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69AD8D-55BD-82DE-2A63-F837F889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4E0950-BFF5-FE1B-174C-717C192E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543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49407-4D40-B02B-1451-EB5531FF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37AB18-2646-4943-7576-D280F984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7F5277-07BD-5060-5067-CFAAB78D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2D4B06-1C93-B54B-D679-831476C9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069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93CB30-86AF-6CBF-1447-2D65FD74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6DDD53-47B8-EFC5-559E-4D6011D9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B84CC1-6144-B84C-2794-9878A4C4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745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43AF6-614D-B6B5-5BBE-F6D42799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EE7BD5-4417-2531-3904-4387F739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5A3F83-48F3-B193-213C-10BFCA810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36F3F3-E035-F18D-FE39-32A68304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84367C-C49D-EC44-516D-450B2FA3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4B748C-403E-2514-C9A4-609C3493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980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78E1E-1B7E-1186-508E-654854AC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85DE57-FC4A-B767-BA8D-E59C1D9B8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9015C8-2109-48BF-90CD-E74223AEA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627F1D-0FA9-1469-86B6-162A3128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8979F9-373F-8511-1438-1F4D98E9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DB2F64-A132-AD15-1188-DC6C425A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593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51EC5-9390-9245-5077-3C966163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2AD920-B710-DAE3-2EF3-BF97F0ABE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CE727B-E3AD-E913-B7AB-5023EEED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372D7-C64D-A1C4-B4C6-27B3A981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5455E4-FA2E-DA7C-513E-2AE33E6F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896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082659-29CF-8849-A4A2-EF62487C7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DD7631-4E93-616A-B2F1-0422ABA3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02F7A7-7375-4D26-C48E-599A879F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EBA8EE-0B4E-0DE7-66B2-A14E24E7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1D49FF-F7B3-FDDE-DB9B-F86660D4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144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1A97C2-EAAB-245C-3488-5E7D1508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456541-E9FB-C997-46F7-19860834D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CBB5E3-8AE3-930C-3A5E-509B9B931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A1ABD-E98E-4BDC-AEDA-5F1990A18363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BAA346-1A39-B41D-37D9-2C0D383DC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0BA7BE-9BC1-28B9-30EC-EEF3A8A05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96FF9-E576-405E-9ECD-202D58B3D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509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AB87983E-7448-97AF-3BAE-E404BE7CC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0" r="27535" b="-1"/>
          <a:stretch>
            <a:fillRect/>
          </a:stretch>
        </p:blipFill>
        <p:spPr>
          <a:xfrm>
            <a:off x="5943601" y="-791474"/>
            <a:ext cx="6491164" cy="7649474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FBADF6B-4E86-E520-E1EA-D69C011CEEBC}"/>
              </a:ext>
            </a:extLst>
          </p:cNvPr>
          <p:cNvCxnSpPr>
            <a:cxnSpLocks/>
          </p:cNvCxnSpPr>
          <p:nvPr/>
        </p:nvCxnSpPr>
        <p:spPr>
          <a:xfrm flipH="1">
            <a:off x="10689336" y="1462233"/>
            <a:ext cx="694944" cy="1326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ED8B0D8-FEF1-CD38-562D-3DAD0D53878F}"/>
              </a:ext>
            </a:extLst>
          </p:cNvPr>
          <p:cNvSpPr txBox="1"/>
          <p:nvPr/>
        </p:nvSpPr>
        <p:spPr>
          <a:xfrm>
            <a:off x="9996365" y="815902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[Traza con RF02] Inicia la integración con el servicio externo para validar la identidad UPM.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208AB63-BDD8-8D80-714A-B9F4A7FBBB0B}"/>
              </a:ext>
            </a:extLst>
          </p:cNvPr>
          <p:cNvCxnSpPr>
            <a:cxnSpLocks/>
          </p:cNvCxnSpPr>
          <p:nvPr/>
        </p:nvCxnSpPr>
        <p:spPr>
          <a:xfrm>
            <a:off x="6691320" y="3777388"/>
            <a:ext cx="1458686" cy="418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0D8B058-CBB2-4B26-F585-A00C23E89A56}"/>
              </a:ext>
            </a:extLst>
          </p:cNvPr>
          <p:cNvSpPr txBox="1"/>
          <p:nvPr/>
        </p:nvSpPr>
        <p:spPr>
          <a:xfrm>
            <a:off x="4319016" y="3492734"/>
            <a:ext cx="2732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[Traza con RF01] Vía de </a:t>
            </a:r>
            <a:r>
              <a:rPr lang="es-ES" sz="1200" dirty="0" err="1"/>
              <a:t>autoregistro</a:t>
            </a:r>
            <a:r>
              <a:rPr lang="es-ES" sz="1200" dirty="0"/>
              <a:t> para los participantes sin cuenta institucional.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69361DC-C412-55A8-1F2B-03BC66CF0D78}"/>
              </a:ext>
            </a:extLst>
          </p:cNvPr>
          <p:cNvSpPr txBox="1"/>
          <p:nvPr/>
        </p:nvSpPr>
        <p:spPr>
          <a:xfrm>
            <a:off x="3645395" y="328145"/>
            <a:ext cx="2732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[Traza con RNF04] Interfaz ajustada estrictamente al manual de identidad gráfica oficial de la UPM.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BC5D3A2-D6CA-96D1-70D9-AEE0D6C66919}"/>
              </a:ext>
            </a:extLst>
          </p:cNvPr>
          <p:cNvSpPr txBox="1"/>
          <p:nvPr/>
        </p:nvSpPr>
        <p:spPr>
          <a:xfrm>
            <a:off x="3765152" y="4852201"/>
            <a:ext cx="2732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[RF02 - Intercepción de Doble Rol]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931CC745-1A00-989E-D49A-F656309F630A}"/>
              </a:ext>
            </a:extLst>
          </p:cNvPr>
          <p:cNvCxnSpPr>
            <a:cxnSpLocks/>
          </p:cNvCxnSpPr>
          <p:nvPr/>
        </p:nvCxnSpPr>
        <p:spPr>
          <a:xfrm>
            <a:off x="6185352" y="4950860"/>
            <a:ext cx="1936699" cy="309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861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E63D1BD-367D-4CDD-81B0-DB2BCC262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4716089"/>
            <a:ext cx="11084703" cy="1573149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2544B9-D728-8A5B-FF38-824814BF0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656" y="4909985"/>
            <a:ext cx="4953144" cy="1185353"/>
          </a:xfrm>
        </p:spPr>
        <p:txBody>
          <a:bodyPr anchor="ctr">
            <a:normAutofit/>
          </a:bodyPr>
          <a:lstStyle/>
          <a:p>
            <a:pPr algn="l"/>
            <a:endParaRPr lang="es-E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5175711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06489" y="5491251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n 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D923115-F603-237F-A1B8-5AC3CB226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20543" cy="6858000"/>
          </a:xfrm>
          <a:prstGeom prst="rect">
            <a:avLst/>
          </a:prstGeom>
        </p:spPr>
      </p:pic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1B61C69-5100-48E6-F738-208D42B50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543" y="0"/>
            <a:ext cx="5776866" cy="6858000"/>
          </a:xfrm>
          <a:prstGeom prst="rect">
            <a:avLst/>
          </a:prstGeom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0BEC6AB-F0C9-D179-9F5B-C569DA5C85B7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1001982" y="2643172"/>
            <a:ext cx="1045029" cy="187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5985EA7-8AC1-207E-F827-69658920AEE5}"/>
              </a:ext>
            </a:extLst>
          </p:cNvPr>
          <p:cNvSpPr txBox="1"/>
          <p:nvPr/>
        </p:nvSpPr>
        <p:spPr>
          <a:xfrm>
            <a:off x="2047011" y="2512367"/>
            <a:ext cx="3853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RF01] Dato de identificación personal obligatorio.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7B3BC15-3931-0589-852D-124838F77725}"/>
              </a:ext>
            </a:extLst>
          </p:cNvPr>
          <p:cNvSpPr txBox="1"/>
          <p:nvPr/>
        </p:nvSpPr>
        <p:spPr>
          <a:xfrm>
            <a:off x="3488283" y="5355771"/>
            <a:ext cx="27249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RF01] Entrada específica para alumnos UPM que se asocia tras la validación del </a:t>
            </a:r>
            <a:r>
              <a:rPr lang="es-ES" sz="1100" dirty="0" err="1"/>
              <a:t>Authenticator</a:t>
            </a:r>
            <a:r>
              <a:rPr lang="es-ES" sz="1100" dirty="0"/>
              <a:t>.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7F2132B8-09F4-3B86-C48B-6D42A0C76B6C}"/>
              </a:ext>
            </a:extLst>
          </p:cNvPr>
          <p:cNvCxnSpPr>
            <a:cxnSpLocks/>
          </p:cNvCxnSpPr>
          <p:nvPr/>
        </p:nvCxnSpPr>
        <p:spPr>
          <a:xfrm flipH="1">
            <a:off x="2375599" y="5647200"/>
            <a:ext cx="1045029" cy="87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4A2CC7C-DC37-15FE-1F08-E711F99C51CE}"/>
              </a:ext>
            </a:extLst>
          </p:cNvPr>
          <p:cNvCxnSpPr>
            <a:cxnSpLocks/>
          </p:cNvCxnSpPr>
          <p:nvPr/>
        </p:nvCxnSpPr>
        <p:spPr>
          <a:xfrm flipH="1">
            <a:off x="8458696" y="2830285"/>
            <a:ext cx="478475" cy="149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20B0C3FF-9C84-8FD0-4A2F-F5EA044679AF}"/>
              </a:ext>
            </a:extLst>
          </p:cNvPr>
          <p:cNvCxnSpPr>
            <a:cxnSpLocks/>
          </p:cNvCxnSpPr>
          <p:nvPr/>
        </p:nvCxnSpPr>
        <p:spPr>
          <a:xfrm flipH="1">
            <a:off x="9726731" y="6283630"/>
            <a:ext cx="277240" cy="177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8FAAB11-4B3D-B232-492E-B6B52E8377EF}"/>
              </a:ext>
            </a:extLst>
          </p:cNvPr>
          <p:cNvSpPr txBox="1"/>
          <p:nvPr/>
        </p:nvSpPr>
        <p:spPr>
          <a:xfrm>
            <a:off x="9721095" y="5887193"/>
            <a:ext cx="2726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[Salida RF01] Creación de cuenta con rol asignado y tarjeta vinculada.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6AC6FB4-8A9E-7A3A-C400-9286B6EE42DA}"/>
              </a:ext>
            </a:extLst>
          </p:cNvPr>
          <p:cNvSpPr txBox="1"/>
          <p:nvPr/>
        </p:nvSpPr>
        <p:spPr>
          <a:xfrm>
            <a:off x="8218217" y="2427965"/>
            <a:ext cx="3853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RF01 - Paso 3] Registro seguro de datos bancarios durante el alta para futuros cobros de actividades.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C40CE6B-15B5-B173-578D-D80BDE49713C}"/>
              </a:ext>
            </a:extLst>
          </p:cNvPr>
          <p:cNvSpPr txBox="1"/>
          <p:nvPr/>
        </p:nvSpPr>
        <p:spPr>
          <a:xfrm>
            <a:off x="9307286" y="631371"/>
            <a:ext cx="26561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[Cumple RNF01] Validación interactiva de la política de seguridad de credenciales.</a:t>
            </a:r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49D30DDA-EEB0-B40F-20F3-B0FC1E78DDAA}"/>
              </a:ext>
            </a:extLst>
          </p:cNvPr>
          <p:cNvCxnSpPr>
            <a:cxnSpLocks/>
          </p:cNvCxnSpPr>
          <p:nvPr/>
        </p:nvCxnSpPr>
        <p:spPr>
          <a:xfrm flipH="1">
            <a:off x="8205488" y="849086"/>
            <a:ext cx="1045029" cy="100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88A5B88-A90B-0AA5-D2D8-64F6FB99CDCE}"/>
              </a:ext>
            </a:extLst>
          </p:cNvPr>
          <p:cNvSpPr txBox="1"/>
          <p:nvPr/>
        </p:nvSpPr>
        <p:spPr>
          <a:xfrm>
            <a:off x="9501326" y="4471803"/>
            <a:ext cx="2946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/>
            </a:lvl1pPr>
          </a:lstStyle>
          <a:p>
            <a:r>
              <a:rPr lang="es-ES" sz="1100" dirty="0"/>
              <a:t>[Cumple RNF02] Verificación del cumplimiento de la normativa LOPD-GDD.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6700D564-D1EE-18F6-3AD0-66CD4DE356B7}"/>
              </a:ext>
            </a:extLst>
          </p:cNvPr>
          <p:cNvCxnSpPr>
            <a:cxnSpLocks/>
          </p:cNvCxnSpPr>
          <p:nvPr/>
        </p:nvCxnSpPr>
        <p:spPr>
          <a:xfrm flipH="1">
            <a:off x="8697933" y="4637978"/>
            <a:ext cx="743449" cy="162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438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2DA78-4E96-A596-8A99-82A651AA6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7F2DD8-0488-CABA-1B11-E90ECBEF94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7B55C40-FEED-DE0E-F323-4B2797E6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532120" cy="6858000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1A49647B-89E2-E574-8B0A-12E4F4A68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884" y="40480"/>
            <a:ext cx="6659879" cy="6777037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BE9A43F-08E9-41B3-1B3E-D3DAE08958B5}"/>
              </a:ext>
            </a:extLst>
          </p:cNvPr>
          <p:cNvCxnSpPr>
            <a:cxnSpLocks/>
          </p:cNvCxnSpPr>
          <p:nvPr/>
        </p:nvCxnSpPr>
        <p:spPr>
          <a:xfrm flipH="1">
            <a:off x="1431891" y="2858615"/>
            <a:ext cx="430902" cy="120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4488A20-D7D3-2CD7-E91E-6434ED3FD4FC}"/>
              </a:ext>
            </a:extLst>
          </p:cNvPr>
          <p:cNvSpPr txBox="1"/>
          <p:nvPr/>
        </p:nvSpPr>
        <p:spPr>
          <a:xfrm>
            <a:off x="1862794" y="2643172"/>
            <a:ext cx="3853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RF01 - Paso 1] Validación de </a:t>
            </a:r>
            <a:r>
              <a:rPr lang="es-ES" sz="1100" dirty="0" err="1"/>
              <a:t>nick</a:t>
            </a:r>
            <a:r>
              <a:rPr lang="es-ES" sz="1100" dirty="0"/>
              <a:t> alfanumérico (4-12 caracteres) y filtrado de términos conflictivos.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2E61EE-0720-61B9-438D-B27527039BED}"/>
              </a:ext>
            </a:extLst>
          </p:cNvPr>
          <p:cNvSpPr txBox="1"/>
          <p:nvPr/>
        </p:nvSpPr>
        <p:spPr>
          <a:xfrm>
            <a:off x="1678579" y="814844"/>
            <a:ext cx="3853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RF01 - Paso 1] Validación de </a:t>
            </a:r>
            <a:r>
              <a:rPr lang="es-ES" sz="1100" dirty="0" err="1"/>
              <a:t>nick</a:t>
            </a:r>
            <a:r>
              <a:rPr lang="es-ES" sz="1100" dirty="0"/>
              <a:t> alfanumérico (4-12 caracteres) y filtrado de términos conflictivos.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1EEA1F3-CDBA-DCD6-8BB3-0C0FD6F6D26F}"/>
              </a:ext>
            </a:extLst>
          </p:cNvPr>
          <p:cNvSpPr txBox="1"/>
          <p:nvPr/>
        </p:nvSpPr>
        <p:spPr>
          <a:xfrm>
            <a:off x="1524000" y="5691744"/>
            <a:ext cx="3853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RNF01] Cumplimiento de política: longitud mínima de 12 caracteres, mayúscula, minúscula y número.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4B3E70C-B4F4-7C7B-7C1C-DE1AD124BF64}"/>
              </a:ext>
            </a:extLst>
          </p:cNvPr>
          <p:cNvSpPr txBox="1"/>
          <p:nvPr/>
        </p:nvSpPr>
        <p:spPr>
          <a:xfrm>
            <a:off x="7730193" y="1007507"/>
            <a:ext cx="3853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RF01 - Paso 3] Registro seguro de datos bancarios durante el alta para futuros cobros de actividades.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6B4071-BD8D-54D2-6DD4-39E1DB746684}"/>
              </a:ext>
            </a:extLst>
          </p:cNvPr>
          <p:cNvSpPr txBox="1"/>
          <p:nvPr/>
        </p:nvSpPr>
        <p:spPr>
          <a:xfrm>
            <a:off x="1647341" y="4744650"/>
            <a:ext cx="3853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RF02 - Precondiciones] Entrada de dominio institucional para invocar la pasarela UPM </a:t>
            </a:r>
            <a:r>
              <a:rPr lang="es-ES" sz="1100" dirty="0" err="1"/>
              <a:t>Authenticator</a:t>
            </a:r>
            <a:r>
              <a:rPr lang="es-ES" sz="1100" dirty="0"/>
              <a:t>.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BE4ED23-A95E-7DAC-AF71-A0D5DA6B9F87}"/>
              </a:ext>
            </a:extLst>
          </p:cNvPr>
          <p:cNvCxnSpPr>
            <a:cxnSpLocks/>
          </p:cNvCxnSpPr>
          <p:nvPr/>
        </p:nvCxnSpPr>
        <p:spPr>
          <a:xfrm flipH="1" flipV="1">
            <a:off x="1186543" y="5691744"/>
            <a:ext cx="337456" cy="145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9DA766A-B403-F03E-3BD8-E0ED7D16ED10}"/>
              </a:ext>
            </a:extLst>
          </p:cNvPr>
          <p:cNvCxnSpPr>
            <a:cxnSpLocks/>
          </p:cNvCxnSpPr>
          <p:nvPr/>
        </p:nvCxnSpPr>
        <p:spPr>
          <a:xfrm flipH="1" flipV="1">
            <a:off x="1431891" y="4715300"/>
            <a:ext cx="215451" cy="143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9B62E8A-AC0A-1444-28F8-DDC5C6BC3EE8}"/>
              </a:ext>
            </a:extLst>
          </p:cNvPr>
          <p:cNvCxnSpPr>
            <a:cxnSpLocks/>
          </p:cNvCxnSpPr>
          <p:nvPr/>
        </p:nvCxnSpPr>
        <p:spPr>
          <a:xfrm flipH="1">
            <a:off x="6889742" y="1196062"/>
            <a:ext cx="806879" cy="82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37BEC58-AA2E-489F-ABCE-9DAC35F28858}"/>
              </a:ext>
            </a:extLst>
          </p:cNvPr>
          <p:cNvCxnSpPr>
            <a:cxnSpLocks/>
          </p:cNvCxnSpPr>
          <p:nvPr/>
        </p:nvCxnSpPr>
        <p:spPr>
          <a:xfrm>
            <a:off x="9262906" y="5875128"/>
            <a:ext cx="296425" cy="147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C699DFF-3911-B0B7-B583-59D6B7340F22}"/>
              </a:ext>
            </a:extLst>
          </p:cNvPr>
          <p:cNvSpPr txBox="1"/>
          <p:nvPr/>
        </p:nvSpPr>
        <p:spPr>
          <a:xfrm>
            <a:off x="5803421" y="5635049"/>
            <a:ext cx="3853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[Traza con RNF06] Garantía de tiempo de respuesta inferior a 5 segundos en la validación con servicios externos.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29F7774-FF91-1DC3-C0CF-DC62E5AF9B4C}"/>
              </a:ext>
            </a:extLst>
          </p:cNvPr>
          <p:cNvSpPr txBox="1"/>
          <p:nvPr/>
        </p:nvSpPr>
        <p:spPr>
          <a:xfrm>
            <a:off x="8390983" y="3193932"/>
            <a:ext cx="2946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/>
            </a:lvl1pPr>
          </a:lstStyle>
          <a:p>
            <a:r>
              <a:rPr lang="es-ES" sz="1100" dirty="0"/>
              <a:t>[Cumple RNF02] Verificación del cumplimiento de la normativa LOPD-GDD.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C830B933-EC88-B9AC-60AC-72016A413696}"/>
              </a:ext>
            </a:extLst>
          </p:cNvPr>
          <p:cNvCxnSpPr>
            <a:cxnSpLocks/>
          </p:cNvCxnSpPr>
          <p:nvPr/>
        </p:nvCxnSpPr>
        <p:spPr>
          <a:xfrm flipH="1">
            <a:off x="7551199" y="3406716"/>
            <a:ext cx="806879" cy="82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25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60962E-6BFD-B9E0-69F3-93A8F038A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anchor="ctr">
            <a:normAutofit/>
          </a:bodyPr>
          <a:lstStyle/>
          <a:p>
            <a:pPr algn="l"/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7E74EB-1130-6815-E661-C0338C37B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1507" y="387224"/>
            <a:ext cx="3291839" cy="830453"/>
          </a:xfrm>
        </p:spPr>
        <p:txBody>
          <a:bodyPr anchor="ctr">
            <a:normAutofit/>
          </a:bodyPr>
          <a:lstStyle/>
          <a:p>
            <a:pPr algn="l"/>
            <a:endParaRPr lang="es-ES" sz="2000">
              <a:solidFill>
                <a:srgbClr val="FFFFFF"/>
              </a:solidFill>
            </a:endParaRPr>
          </a:p>
        </p:txBody>
      </p:sp>
      <p:pic>
        <p:nvPicPr>
          <p:cNvPr id="7" name="Imagen 6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8E0E204F-14CC-B7BA-2732-4AAD4A173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3288718"/>
            <a:ext cx="5131088" cy="1783053"/>
          </a:xfrm>
          <a:prstGeom prst="rect">
            <a:avLst/>
          </a:prstGeom>
        </p:spPr>
      </p:pic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FB2F2DD-ED23-422A-83EF-D7E910109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4517322" cy="399783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1B918FF-F23E-AF41-C97A-7C3E53933FC2}"/>
              </a:ext>
            </a:extLst>
          </p:cNvPr>
          <p:cNvSpPr txBox="1"/>
          <p:nvPr/>
        </p:nvSpPr>
        <p:spPr>
          <a:xfrm>
            <a:off x="1589811" y="3027108"/>
            <a:ext cx="3853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[Restricción Lógica - Exclusividad de Perfil]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107747D-0D10-9B98-FFBB-0A0A4A9F8637}"/>
              </a:ext>
            </a:extLst>
          </p:cNvPr>
          <p:cNvSpPr txBox="1"/>
          <p:nvPr/>
        </p:nvSpPr>
        <p:spPr>
          <a:xfrm>
            <a:off x="9795965" y="6144408"/>
            <a:ext cx="3853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[RF01 / RF03 - Perfil Staff]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2DED111-D182-16C6-B527-50CA80DF10B7}"/>
              </a:ext>
            </a:extLst>
          </p:cNvPr>
          <p:cNvSpPr txBox="1"/>
          <p:nvPr/>
        </p:nvSpPr>
        <p:spPr>
          <a:xfrm>
            <a:off x="2242457" y="5455707"/>
            <a:ext cx="3853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[RF01 / RF03 - Perfil Alumno]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898E64C-DA8E-9AA7-3FB2-550F220E47E1}"/>
              </a:ext>
            </a:extLst>
          </p:cNvPr>
          <p:cNvCxnSpPr>
            <a:cxnSpLocks/>
          </p:cNvCxnSpPr>
          <p:nvPr/>
        </p:nvCxnSpPr>
        <p:spPr>
          <a:xfrm>
            <a:off x="4149969" y="5586512"/>
            <a:ext cx="2504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8573881-9234-7D75-D59B-012E5FE05453}"/>
              </a:ext>
            </a:extLst>
          </p:cNvPr>
          <p:cNvCxnSpPr>
            <a:cxnSpLocks/>
          </p:cNvCxnSpPr>
          <p:nvPr/>
        </p:nvCxnSpPr>
        <p:spPr>
          <a:xfrm>
            <a:off x="4149969" y="3381297"/>
            <a:ext cx="257908" cy="9337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0FC58FF-B193-3CA9-B452-F6DE1CAFCD9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9413631" y="6013938"/>
            <a:ext cx="382334" cy="261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77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utoShape 2" descr="Imagen seleccionada presentada en un lightbox.">
            <a:extLst>
              <a:ext uri="{FF2B5EF4-FFF2-40B4-BE49-F238E27FC236}">
                <a16:creationId xmlns:a16="http://schemas.microsoft.com/office/drawing/2014/main" id="{8F817F99-8ADA-3B01-23EC-3337B5C8E9E0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860742" y="1124988"/>
            <a:ext cx="4425962" cy="2387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l"/>
            <a:endParaRPr lang="es-ES" dirty="0"/>
          </a:p>
        </p:txBody>
      </p:sp>
      <p:sp>
        <p:nvSpPr>
          <p:cNvPr id="7" name="AutoShape 8" descr="Imagen seleccionada presentada en un lightbox.">
            <a:extLst>
              <a:ext uri="{FF2B5EF4-FFF2-40B4-BE49-F238E27FC236}">
                <a16:creationId xmlns:a16="http://schemas.microsoft.com/office/drawing/2014/main" id="{CD47BBE9-9DF9-D02C-5A9B-79FEC9C95FA9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860742" y="3633691"/>
            <a:ext cx="4425962" cy="1655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l"/>
            <a:endParaRPr lang="es-ES"/>
          </a:p>
        </p:txBody>
      </p:sp>
      <p:pic>
        <p:nvPicPr>
          <p:cNvPr id="9" name="Imagen 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F7C320E-C95F-B71C-8FBE-01E30EFC6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2" r="1" b="3645"/>
          <a:stretch>
            <a:fillRect/>
          </a:stretch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</p:spPr>
      </p:pic>
      <p:sp>
        <p:nvSpPr>
          <p:cNvPr id="20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utoShape 4" descr="Imagen seleccionada presentada en un lightbox.">
            <a:extLst>
              <a:ext uri="{FF2B5EF4-FFF2-40B4-BE49-F238E27FC236}">
                <a16:creationId xmlns:a16="http://schemas.microsoft.com/office/drawing/2014/main" id="{A50AC1A1-83DD-A3B6-046F-77BA2A247A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AutoShape 6" descr="Vista previa de la imagen subida">
            <a:extLst>
              <a:ext uri="{FF2B5EF4-FFF2-40B4-BE49-F238E27FC236}">
                <a16:creationId xmlns:a16="http://schemas.microsoft.com/office/drawing/2014/main" id="{BFFB545F-6067-4043-64D7-C63D10805D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3020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314</Words>
  <Application>Microsoft Office PowerPoint</Application>
  <PresentationFormat>Panorámica</PresentationFormat>
  <Paragraphs>21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Avenir Next LT Pro</vt:lpstr>
      <vt:lpstr>Calibri</vt:lpstr>
      <vt:lpstr>Tema de Office</vt:lpstr>
      <vt:lpstr>Presentación de PowerPoint</vt:lpstr>
      <vt:lpstr>Presentación de PowerPoint</vt:lpstr>
      <vt:lpstr>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MANZANARO CARABALLO</dc:creator>
  <cp:lastModifiedBy>PABLO MANZANARO CARABALLO</cp:lastModifiedBy>
  <cp:revision>3</cp:revision>
  <dcterms:created xsi:type="dcterms:W3CDTF">2026-03-04T15:29:46Z</dcterms:created>
  <dcterms:modified xsi:type="dcterms:W3CDTF">2026-03-04T17:09:39Z</dcterms:modified>
</cp:coreProperties>
</file>